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8530" y="1642745"/>
            <a:ext cx="8667750" cy="14408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 sz="4400"/>
              <a:t>Smart Waste</a:t>
            </a:r>
            <a:endParaRPr sz="4400"/>
          </a:p>
          <a:p>
            <a:pPr algn="l">
              <a:spcAft>
                <a:spcPts val="4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 sz="4400"/>
              <a:t>Classifier with Analytics</a:t>
            </a:r>
            <a:endParaRPr sz="4400"/>
          </a:p>
        </p:txBody>
      </p:sp>
      <p:sp>
        <p:nvSpPr>
          <p:cNvPr id="5" name="Rectangle 4"/>
          <p:cNvSpPr/>
          <p:nvPr/>
        </p:nvSpPr>
        <p:spPr>
          <a:xfrm>
            <a:off x="5825363" y="4006342"/>
            <a:ext cx="9144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6055" y="4206240"/>
            <a:ext cx="2421890" cy="5118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rPr lang="en-IN"/>
              <a:t>Rashmi Suryavanshi</a:t>
            </a:r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36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2D0DE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C2D0DE"/>
                </a:solidFill>
                <a:latin typeface="Aptos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16355" y="1873885"/>
            <a:ext cx="6243320" cy="3248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spcAft>
                <a:spcPts val="500"/>
              </a:spcAft>
              <a:buNone/>
              <a:defRPr sz="1400">
                <a:solidFill>
                  <a:srgbClr val="E4EDF6"/>
                </a:solidFill>
                <a:latin typeface="Aptos"/>
              </a:defRPr>
            </a:pPr>
            <a:endParaRPr 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1"/>
          <p:cNvSpPr txBox="1"/>
          <p:nvPr/>
        </p:nvSpPr>
        <p:spPr>
          <a:xfrm>
            <a:off x="566928" y="329184"/>
            <a:ext cx="10789920" cy="4813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rPr lang="en-IN"/>
              <a:t>Introduction</a:t>
            </a:r>
            <a:endParaRPr lang="en-IN"/>
          </a:p>
        </p:txBody>
      </p:sp>
      <p:sp>
        <p:nvSpPr>
          <p:cNvPr id="6" name="TextBox 4"/>
          <p:cNvSpPr txBox="1"/>
          <p:nvPr/>
        </p:nvSpPr>
        <p:spPr>
          <a:xfrm>
            <a:off x="1129665" y="1667510"/>
            <a:ext cx="6430010" cy="382143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rPr lang="en-US" altLang="en-US"/>
              <a:t>Waste segregation is the first step of recycling, and mistakes in sorting reduce recycling efficiency.</a:t>
            </a:r>
            <a:endParaRPr lang="en-US" altLang="en-US"/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rPr lang="en-US" altLang="en-US"/>
              <a:t>This project uses deep learning to classify waste into 6 classes: cardboard, glass, metal, paper, plastic, trash.</a:t>
            </a:r>
            <a:endParaRPr lang="en-US" altLang="en-US"/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rPr lang="en-US" altLang="en-US"/>
              <a:t>An analytics layer (SQL + Power BI) shows where the model succeeds and where it fails.</a:t>
            </a:r>
            <a:endParaRPr lang="en-US" altLang="en-US"/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rPr lang="en-US" altLang="en-US"/>
              <a:t>Aligned with UN SDG 11 (Sustainable Cities) and SDG 12 (Responsible Consumption).</a:t>
            </a:r>
            <a:endParaRPr lang="en-US" altLang="en-US"/>
          </a:p>
        </p:txBody>
      </p:sp>
      <p:pic>
        <p:nvPicPr>
          <p:cNvPr id="7" name="Picture 6" descr="Screenshot 2026-10-09 203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875" y="1523365"/>
            <a:ext cx="3787140" cy="3608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840" y="1600200"/>
            <a:ext cx="6502400" cy="2573655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t>Manual waste sorting is slow, costly and error-prone.</a:t>
            </a:r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t>Automated classifiers are often reported with a single accuracy number.</a:t>
            </a:r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t>Need: a low-cost classifier whose reliability is measured and understood, not just reported.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0020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600200"/>
            <a:ext cx="64008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1746504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103120"/>
            <a:ext cx="2926080" cy="4297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Manual sorting is slow.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88036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880360"/>
            <a:ext cx="64008" cy="1051560"/>
          </a:xfrm>
          <a:prstGeom prst="rect">
            <a:avLst/>
          </a:prstGeom>
          <a:solidFill>
            <a:srgbClr val="FFC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026664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383280"/>
            <a:ext cx="2926080" cy="4297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A single accuracy number is not enough.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1605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4160520"/>
            <a:ext cx="64008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4306824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4663440"/>
            <a:ext cx="2926080" cy="4297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Measure and understand model errors.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315200" cy="3070225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Build a 6-class waste image classifier and compare it with a baseline CNN.</a:t>
            </a:r>
          </a:p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Handle class imbalance and evaluate with per-class metrics.</a:t>
            </a:r>
          </a:p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Store predictions in a portable SQL database and analyse errors and confidence.</a:t>
            </a:r>
          </a:p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Deliver a Streamlit app and a Power BI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41732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417320"/>
            <a:ext cx="64008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63624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01  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20240"/>
            <a:ext cx="2468880" cy="2468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6 waste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532888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2532888"/>
            <a:ext cx="64008" cy="868680"/>
          </a:xfrm>
          <a:prstGeom prst="rect">
            <a:avLst/>
          </a:prstGeom>
          <a:solidFill>
            <a:srgbClr val="FFC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679192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02  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35808"/>
            <a:ext cx="2468880" cy="2468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Per-class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648456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3648456"/>
            <a:ext cx="64008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7947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03 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151376"/>
            <a:ext cx="2468880" cy="2468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SQL + Power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764024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4764024"/>
            <a:ext cx="64008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910328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11F36"/>
                </a:solidFill>
                <a:latin typeface="Aptos"/>
              </a:defRPr>
            </a:pPr>
            <a:r>
              <a:t>04 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266944"/>
            <a:ext cx="2468880" cy="2468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D"/>
                </a:solidFill>
                <a:latin typeface="Aptos"/>
              </a:defRPr>
            </a:pPr>
            <a:r>
              <a:t>Streamlit 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Dataset and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25880"/>
            <a:ext cx="50749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78992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Class distribution</a:t>
            </a:r>
          </a:p>
        </p:txBody>
      </p:sp>
      <p:pic>
        <p:nvPicPr>
          <p:cNvPr id="8" name="Picture 7" descr="augmen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767328"/>
            <a:ext cx="507492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520440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Augmentation 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4 / 10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687705" y="1325880"/>
            <a:ext cx="4827905" cy="417449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Dataset: TrashNet, 2,527 images (512x384), 6 classes.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Imbalance: trash has 137 images vs paper 594 (about 4.3x).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Stratified split 70/15/15: 1,768 train, 379 validation, 380 test.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Augmentation on the training set only: flip, rotation, zoom, brightness, contrast.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Class weights: trash gets about 3.07x weight, paper about 0.71x.</a:t>
            </a:r>
            <a:endParaRPr sz="2000">
              <a:sym typeface="+mn-ea"/>
            </a:endParaRPr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417320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688"/>
                </a:solidFill>
                <a:latin typeface="Aptos"/>
              </a:defRPr>
            </a:pPr>
            <a:r>
              <a:t>MODEL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148840"/>
            <a:ext cx="1170432" cy="1097280"/>
          </a:xfrm>
          <a:prstGeom prst="roundRect">
            <a:avLst>
              <a:gd name="adj" fmla="val 12000"/>
            </a:avLst>
          </a:prstGeom>
          <a:solidFill>
            <a:srgbClr val="DDF4F0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377440"/>
            <a:ext cx="107899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11F36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70632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2697480"/>
            <a:ext cx="219456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24344" y="2148840"/>
            <a:ext cx="1170432" cy="1097280"/>
          </a:xfrm>
          <a:prstGeom prst="roundRect">
            <a:avLst>
              <a:gd name="adj" fmla="val 12000"/>
            </a:avLst>
          </a:prstGeom>
          <a:solidFill>
            <a:srgbClr val="DDF4F0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2377440"/>
            <a:ext cx="107899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11F36"/>
                </a:solidFill>
                <a:latin typeface="Aptos"/>
              </a:defRPr>
            </a:pPr>
            <a:r>
              <a:t>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770632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Train only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13063" y="2697480"/>
            <a:ext cx="219456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50808" y="2148840"/>
            <a:ext cx="1170432" cy="1097280"/>
          </a:xfrm>
          <a:prstGeom prst="roundRect">
            <a:avLst>
              <a:gd name="adj" fmla="val 12000"/>
            </a:avLst>
          </a:prstGeom>
          <a:solidFill>
            <a:srgbClr val="DDF4F0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2377440"/>
            <a:ext cx="107899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11F36"/>
                </a:solidFill>
                <a:latin typeface="Aptos"/>
              </a:defRPr>
            </a:pPr>
            <a:r>
              <a:t>MobileNetV2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770632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Transfer learning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39528" y="2697480"/>
            <a:ext cx="219456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77272" y="2148840"/>
            <a:ext cx="1170432" cy="1097280"/>
          </a:xfrm>
          <a:prstGeom prst="roundRect">
            <a:avLst>
              <a:gd name="adj" fmla="val 12000"/>
            </a:avLst>
          </a:prstGeom>
          <a:solidFill>
            <a:srgbClr val="111F36"/>
          </a:solidFill>
          <a:ln w="1270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2992" y="2377440"/>
            <a:ext cx="107899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Dense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2992" y="2770632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6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4389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2200" b="1" i="0">
                <a:solidFill>
                  <a:srgbClr val="111F36"/>
                </a:solidFill>
                <a:latin typeface="Aptos"/>
              </a:defRPr>
            </a:pPr>
            <a:r>
              <a:t>Dense (6 classes)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63440"/>
            <a:ext cx="51206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1500" b="0" i="0">
                <a:solidFill>
                  <a:srgbClr val="5D6C7D"/>
                </a:solidFill>
                <a:latin typeface="Aptos"/>
              </a:defRPr>
            </a:pPr>
            <a:r>
              <a:t>Preprocessing is embedded in the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5 / 10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748030" y="1349375"/>
            <a:ext cx="4848225" cy="4213225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Baseline CNN: small network trained from scratch (reference).</a:t>
            </a:r>
            <a:endParaRPr sz="1900"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MobileNetV2: ImageNet-pretrained, transfer learning in two stages:</a:t>
            </a:r>
            <a:endParaRPr sz="1900"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1. Train the new classification head with the base frozen.</a:t>
            </a:r>
            <a:endParaRPr sz="1900"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2. Fine-tune the top 60 layers at a low learning rate.</a:t>
            </a:r>
            <a:endParaRPr sz="1900"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Early stopping and learning-rate reduction to limit overfitting.</a:t>
            </a:r>
            <a:endParaRPr sz="1900"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1900">
                <a:sym typeface="+mn-ea"/>
              </a:rPr>
              <a:t>Preprocessing is built inside the model, so the app cannot mismatch it.</a:t>
            </a:r>
            <a:endParaRPr sz="1900">
              <a:sym typeface="+mn-ea"/>
            </a:endParaRPr>
          </a:p>
          <a:p>
            <a:pPr>
              <a:spcAft>
                <a:spcPts val="1600"/>
              </a:spcAft>
              <a:defRPr sz="1900">
                <a:solidFill>
                  <a:srgbClr val="233041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Model Evaluation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1374775"/>
          <a:ext cx="7242175" cy="2553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385"/>
                <a:gridCol w="2291715"/>
                <a:gridCol w="1450340"/>
                <a:gridCol w="1435735"/>
              </a:tblGrid>
              <a:tr h="68199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R="73152" marT="73152"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 marL="109728" marR="73152" marT="73152"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109728" marR="73152" marT="73152"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109728" marR="73152" marT="73152" anchor="ctr">
                    <a:solidFill>
                      <a:srgbClr val="111F36"/>
                    </a:solidFill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Baseline CNN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53.8%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0.51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MobileNetV2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87.9%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 marL="109728" marR="73152" marT="73152" anchor="ctr">
                    <a:solidFill>
                      <a:srgbClr val="FFFFFF"/>
                    </a:solidFill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9688"/>
                          </a:solidFill>
                          <a:latin typeface="Aptos"/>
                        </a:defRPr>
                      </a:pPr>
                      <a:r>
                        <a:t>MobileNetV2</a:t>
                      </a:r>
                    </a:p>
                  </a:txBody>
                  <a:tcPr marL="109728" marR="73152" marT="73152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9688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109728" marR="73152" marT="73152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9688"/>
                          </a:solidFill>
                          <a:latin typeface="Aptos"/>
                        </a:defRPr>
                      </a:pPr>
                      <a:r>
                        <a:t>85.3%</a:t>
                      </a:r>
                    </a:p>
                  </a:txBody>
                  <a:tcPr marL="109728" marR="73152" marT="73152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9688"/>
                          </a:solidFill>
                          <a:latin typeface="Aptos"/>
                        </a:defRPr>
                      </a:pPr>
                      <a:r>
                        <a:t>0.85</a:t>
                      </a:r>
                    </a:p>
                  </a:txBody>
                  <a:tcPr marL="109728" marR="73152" marT="73152" anchor="ctr">
                    <a:solidFill>
                      <a:srgbClr val="DD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470" y="4533900"/>
            <a:ext cx="7132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Transfer learning improved validation accuracy by about 34 points.</a:t>
            </a:r>
          </a:p>
          <a:p>
            <a:pPr>
              <a:spcAft>
                <a:spcPts val="12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The model was chosen on validation data, and the test set was used once.</a:t>
            </a:r>
          </a:p>
        </p:txBody>
      </p:sp>
      <p:pic>
        <p:nvPicPr>
          <p:cNvPr id="7" name="Picture 6" descr="mobilenetv2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335" y="1625600"/>
            <a:ext cx="3830320" cy="3195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4685" y="1374902"/>
            <a:ext cx="324612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rPr sz="1400"/>
              <a:t>Training curves</a:t>
            </a:r>
            <a:endParaRPr sz="1400"/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6" name="Picture 5" descr="mobilenetv2_confusion_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25880"/>
            <a:ext cx="544068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078992"/>
            <a:ext cx="5440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Test confusion matrix</a:t>
            </a:r>
          </a:p>
        </p:txBody>
      </p:sp>
      <p:pic>
        <p:nvPicPr>
          <p:cNvPr id="8" name="Picture 7" descr="glass_as_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617720"/>
            <a:ext cx="544068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4370831"/>
            <a:ext cx="5440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Glass predicted as metal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7 / 10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585470" y="1325880"/>
            <a:ext cx="4931410" cy="441071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indent="0">
              <a:spcAft>
                <a:spcPts val="2000"/>
              </a:spcAft>
              <a:buNone/>
              <a:defRPr sz="20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56 of 380 test images were misclassified.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Top confusions: glass → metal (12), plastic → metal (8), paper → cardboard (6).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Reviewing the glass errors showed the labels were correct. The model struggles with bottle bases and caps and with transparent or reflective objects.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Some errors had very high confidence (up to 1.00).</a:t>
            </a:r>
            <a:endParaRPr sz="2000">
              <a:sym typeface="+mn-ea"/>
            </a:endParaRPr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SQL Analytics and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48640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170432"/>
            <a:ext cx="5486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8 / 10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646430" y="1170305"/>
            <a:ext cx="4931410" cy="441071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indent="0">
              <a:spcAft>
                <a:spcPts val="2000"/>
              </a:spcAft>
              <a:buNone/>
              <a:defRPr sz="20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SQLite database with 3 tables: waste_classes, images, predictions (portable to MySQL/PostgreSQL).</a:t>
            </a:r>
            <a:endParaRPr sz="2000">
              <a:sym typeface="+mn-ea"/>
            </a:endParaRPr>
          </a:p>
          <a:p>
            <a:pPr>
              <a:spcAft>
                <a:spcPts val="7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Queries use JOIN, GROUP BY and CASE WHEN.</a:t>
            </a:r>
            <a:endParaRPr sz="2000">
              <a:sym typeface="+mn-ea"/>
            </a:endParaRPr>
          </a:p>
          <a:p>
            <a:pPr>
              <a:spcAft>
                <a:spcPts val="7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Class-wise accuracy: metal 98.4%, trash 70.0%, glass 76.3%.</a:t>
            </a:r>
            <a:endParaRPr sz="2000">
              <a:sym typeface="+mn-ea"/>
            </a:endParaRPr>
          </a:p>
          <a:p>
            <a:pPr>
              <a:spcAft>
                <a:spcPts val="7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Predictions with confidence ≥ 0.8 are 90.7% correct, against about 56% below 0.8.</a:t>
            </a:r>
            <a:endParaRPr sz="2000">
              <a:sym typeface="+mn-ea"/>
            </a:endParaRPr>
          </a:p>
          <a:p>
            <a:pPr>
              <a:spcAft>
                <a:spcPts val="7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Result: the app shows an “unsure” warning below 0.8 confidence.</a:t>
            </a:r>
            <a:endParaRPr sz="2000">
              <a:sym typeface="+mn-ea"/>
            </a:endParaRPr>
          </a:p>
          <a:p>
            <a:pPr>
              <a:spcAft>
                <a:spcPts val="7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rPr sz="2000">
                <a:sym typeface="+mn-ea"/>
              </a:rPr>
              <a:t>Power BI dashboard with DAX measures, a confusion matrix, confidence bands and a class slicer.</a:t>
            </a:r>
            <a:endParaRPr sz="2000">
              <a:sym typeface="+mn-ea"/>
            </a:endParaRPr>
          </a:p>
          <a:p>
            <a:pPr>
              <a:spcAft>
                <a:spcPts val="1000"/>
              </a:spcAft>
              <a:defRPr sz="1400">
                <a:solidFill>
                  <a:srgbClr val="233041"/>
                </a:solidFill>
                <a:latin typeface="Aptos"/>
              </a:defRPr>
            </a:pPr>
            <a:endParaRPr sz="2000">
              <a:sym typeface="+mn-ea"/>
            </a:endParaRPr>
          </a:p>
          <a:p>
            <a:pPr>
              <a:spcAft>
                <a:spcPts val="2000"/>
              </a:spcAft>
              <a:defRPr sz="2000">
                <a:solidFill>
                  <a:srgbClr val="233041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11F36"/>
                </a:solidFill>
                <a:latin typeface="Aptos"/>
              </a:defRPr>
            </a:pPr>
            <a:r>
              <a:t>Streamlit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9688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6" name="Picture 5" descr="app_corr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1499235"/>
            <a:ext cx="3188335" cy="4182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170432"/>
            <a:ext cx="2880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Correct prediction</a:t>
            </a:r>
          </a:p>
        </p:txBody>
      </p:sp>
      <p:pic>
        <p:nvPicPr>
          <p:cNvPr id="8" name="Picture 7" descr="app_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330" y="1485265"/>
            <a:ext cx="3166110" cy="42297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170432"/>
            <a:ext cx="2880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D"/>
                </a:solidFill>
                <a:latin typeface="Aptos"/>
              </a:defRPr>
            </a:pPr>
            <a:r>
              <a:t>Wrong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D6C7D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5D6C7D"/>
                </a:solidFill>
                <a:latin typeface="Aptos"/>
              </a:defRPr>
            </a:pPr>
            <a:r>
              <a:t>9 / 10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567055" y="1527175"/>
            <a:ext cx="3829050" cy="4154805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rPr sz="1800">
                <a:sym typeface="+mn-ea"/>
              </a:rPr>
              <a:t>Image upload and webcam input.</a:t>
            </a:r>
            <a:endParaRPr sz="1800">
              <a:sym typeface="+mn-ea"/>
            </a:endParaRPr>
          </a:p>
          <a:p>
            <a:pPr>
              <a:spcAft>
                <a:spcPts val="13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1800">
                <a:sym typeface="+mn-ea"/>
              </a:rPr>
              <a:t>Shows the predicted class, confidence, a recyclable yes/no and a probability chart.</a:t>
            </a:r>
            <a:endParaRPr sz="1800">
              <a:sym typeface="+mn-ea"/>
            </a:endParaRPr>
          </a:p>
          <a:p>
            <a:pPr>
              <a:spcAft>
                <a:spcPts val="13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1800">
                <a:sym typeface="+mn-ea"/>
              </a:rPr>
              <a:t>“Unsure, please check manually” warning when confidence is below 0.8.</a:t>
            </a:r>
            <a:endParaRPr sz="1800">
              <a:sym typeface="+mn-ea"/>
            </a:endParaRPr>
          </a:p>
          <a:p>
            <a:pPr>
              <a:spcAft>
                <a:spcPts val="1300"/>
              </a:spcAft>
              <a:defRPr sz="1600">
                <a:solidFill>
                  <a:srgbClr val="233041"/>
                </a:solidFill>
                <a:latin typeface="Aptos"/>
              </a:defRPr>
            </a:pPr>
            <a:r>
              <a:rPr sz="1800">
                <a:sym typeface="+mn-ea"/>
              </a:rPr>
              <a:t>App preprocessing verified on the full test set: 85.0% vs 85.3% in evaluation.</a:t>
            </a:r>
            <a:endParaRPr sz="1800">
              <a:sym typeface="+mn-ea"/>
            </a:endParaRPr>
          </a:p>
          <a:p>
            <a:pPr>
              <a:spcAft>
                <a:spcPts val="1200"/>
              </a:spcAft>
              <a:defRPr sz="1700">
                <a:solidFill>
                  <a:srgbClr val="233041"/>
                </a:solidFill>
                <a:latin typeface="Aptos"/>
              </a:defRPr>
            </a:pP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69264"/>
            <a:ext cx="73152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329184"/>
            <a:ext cx="4389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75E5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49240" cy="4343400"/>
          </a:xfrm>
          <a:prstGeom prst="roundRect">
            <a:avLst>
              <a:gd name="adj" fmla="val 12000"/>
            </a:avLst>
          </a:prstGeom>
          <a:solidFill>
            <a:srgbClr val="1B2D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85232" cy="4343400"/>
          </a:xfrm>
          <a:prstGeom prst="roundRect">
            <a:avLst>
              <a:gd name="adj" fmla="val 12000"/>
            </a:avLst>
          </a:prstGeom>
          <a:solidFill>
            <a:srgbClr val="1B2D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FFC65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1855"/>
            <a:ext cx="4754880" cy="29978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sz="1700"/>
              <a:t>TrashNet has plain backgrounds, so accuracy drops on cluttered real-world photos (domain shift).</a:t>
            </a:r>
            <a:endParaRPr sz="1700"/>
          </a:p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sz="1700"/>
              <a:t>No “not waste” class: a landscape was predicted as “metal” (90%) and a cushion as “cardboard” (100%).</a:t>
            </a:r>
            <a:endParaRPr sz="1700"/>
          </a:p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sz="1700"/>
              <a:t>Near-duplicate photos may make the test score slightly optimistic.</a:t>
            </a:r>
            <a:endParaRPr sz="1700"/>
          </a:p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sz="1700"/>
              <a:t>Only 20 trash images in the test set, so its scores are unstable.</a:t>
            </a:r>
            <a:endParaRPr sz="1700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6634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75E5D6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663440" cy="17792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700"/>
              <a:t>Add realistic datasets (RealWaste, TACO) and your own cluttered-background photos.</a:t>
            </a:r>
            <a:endParaRPr sz="1700"/>
          </a:p>
          <a:p>
            <a:pPr>
              <a:spcAft>
                <a:spcPts val="1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700"/>
              <a:t>Add a “not waste / other” class or an out-of-distribution detector.</a:t>
            </a:r>
            <a:endParaRPr sz="1700"/>
          </a:p>
          <a:p>
            <a:pPr>
              <a:spcAft>
                <a:spcPts val="1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700"/>
              <a:t>Compare ResNet50V2 and deploy online.</a:t>
            </a:r>
            <a:endParaRPr sz="1700"/>
          </a:p>
        </p:txBody>
      </p:sp>
      <p:sp>
        <p:nvSpPr>
          <p:cNvPr id="11" name="Rounded Rectangle 10"/>
          <p:cNvSpPr/>
          <p:nvPr/>
        </p:nvSpPr>
        <p:spPr>
          <a:xfrm>
            <a:off x="960120" y="5806440"/>
            <a:ext cx="10241280" cy="475488"/>
          </a:xfrm>
          <a:prstGeom prst="roundRect">
            <a:avLst>
              <a:gd name="adj" fmla="val 12000"/>
            </a:avLst>
          </a:prstGeom>
          <a:solidFill>
            <a:srgbClr val="223D53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879592"/>
            <a:ext cx="9875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“A high test score does not guarantee real-world performance.”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36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74536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2D0DE"/>
                </a:solidFill>
                <a:latin typeface="Aptos"/>
              </a:defRPr>
            </a:pPr>
            <a:r>
              <a:t>SMART WASTE CLASSIFIER WITH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C2D0DE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3*178"/>
  <p:tag name="TABLE_ENDDRAG_RECT" val="44*108*583*17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4646</Words>
  <Application>WPS Presentation</Application>
  <PresentationFormat>On-screen Show (4:3)</PresentationFormat>
  <Paragraphs>249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Rashmi Suryavanshi</cp:lastModifiedBy>
  <cp:revision>2</cp:revision>
  <dcterms:created xsi:type="dcterms:W3CDTF">2013-01-27T09:14:00Z</dcterms:created>
  <dcterms:modified xsi:type="dcterms:W3CDTF">2026-10-09T16:44:02Z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6AABC767F46445CC8B48749D8DD2DD58_12</vt:lpwstr>
  </property>
</Properties>
</file>